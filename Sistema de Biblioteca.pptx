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Phobos" charset="1" panose="02000503050000020004"/>
      <p:regular r:id="rId13"/>
    </p:embeddedFont>
    <p:embeddedFont>
      <p:font typeface="TT Norms" charset="1" panose="02000503030000020003"/>
      <p:regular r:id="rId14"/>
    </p:embeddedFont>
    <p:embeddedFont>
      <p:font typeface="TT Phobos Inline" charset="1" panose="0200050302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jpeg" Type="http://schemas.openxmlformats.org/officeDocument/2006/relationships/image"/><Relationship Id="rId11" Target="../media/VAG4_yZlfbo.mp4" Type="http://schemas.openxmlformats.org/officeDocument/2006/relationships/video"/><Relationship Id="rId12" Target="../media/VAG4_yZlfbo.mp4" Type="http://schemas.microsoft.com/office/2007/relationships/media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0094" y="7911947"/>
            <a:ext cx="19388189" cy="4750106"/>
          </a:xfrm>
          <a:custGeom>
            <a:avLst/>
            <a:gdLst/>
            <a:ahLst/>
            <a:cxnLst/>
            <a:rect r="r" b="b" t="t" l="l"/>
            <a:pathLst>
              <a:path h="4750106" w="19388189">
                <a:moveTo>
                  <a:pt x="0" y="0"/>
                </a:moveTo>
                <a:lnTo>
                  <a:pt x="19388188" y="0"/>
                </a:lnTo>
                <a:lnTo>
                  <a:pt x="19388188" y="4750106"/>
                </a:lnTo>
                <a:lnTo>
                  <a:pt x="0" y="4750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35747" y="4770587"/>
            <a:ext cx="9849578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500">
                <a:solidFill>
                  <a:srgbClr val="FFF5D6"/>
                </a:solidFill>
                <a:latin typeface="TT Phobos"/>
                <a:ea typeface="TT Phobos"/>
                <a:cs typeface="TT Phobos"/>
                <a:sym typeface="TT Phobos"/>
              </a:rPr>
              <a:t>LABORATÓRIO DE BANCO DE DADOS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2100" y="6375909"/>
            <a:ext cx="11436872" cy="133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9"/>
              </a:lnSpc>
            </a:pPr>
            <a:r>
              <a:rPr lang="en-US" sz="2520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Isabella Mendes Martins T, </a:t>
            </a:r>
            <a:r>
              <a:rPr lang="en-US" sz="2520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Geovanna Maria Barbosa S,</a:t>
            </a:r>
          </a:p>
          <a:p>
            <a:pPr algn="ctr">
              <a:lnSpc>
                <a:spcPts val="3529"/>
              </a:lnSpc>
            </a:pPr>
            <a:r>
              <a:rPr lang="en-US" sz="2520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Giovanna Cardoso da Silva e Iago Cordeiro Felix.</a:t>
            </a:r>
          </a:p>
          <a:p>
            <a:pPr algn="l">
              <a:lnSpc>
                <a:spcPts val="352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998880" y="-456218"/>
            <a:ext cx="8762237" cy="8998446"/>
          </a:xfrm>
          <a:custGeom>
            <a:avLst/>
            <a:gdLst/>
            <a:ahLst/>
            <a:cxnLst/>
            <a:rect r="r" b="b" t="t" l="l"/>
            <a:pathLst>
              <a:path h="8998446" w="8762237">
                <a:moveTo>
                  <a:pt x="0" y="0"/>
                </a:moveTo>
                <a:lnTo>
                  <a:pt x="8762237" y="0"/>
                </a:lnTo>
                <a:lnTo>
                  <a:pt x="8762237" y="8998446"/>
                </a:lnTo>
                <a:lnTo>
                  <a:pt x="0" y="899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136114" y="2924178"/>
            <a:ext cx="5589960" cy="561805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142561" y="2869609"/>
            <a:ext cx="9035951" cy="187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sz="8253">
                <a:solidFill>
                  <a:srgbClr val="FFF5D6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SISTEMA DE BIBLIOTECA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5094" y="3110762"/>
            <a:ext cx="15944206" cy="669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O que o nosso sistema faz?</a:t>
            </a:r>
          </a:p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Sistema de Biblioteca completo</a:t>
            </a:r>
          </a:p>
          <a:p>
            <a:pPr algn="l">
              <a:lnSpc>
                <a:spcPts val="4427"/>
              </a:lnSpc>
            </a:pPr>
          </a:p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 Gerencia: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livros                         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autores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categorias</a:t>
            </a:r>
          </a:p>
          <a:p>
            <a:pPr algn="l">
              <a:lnSpc>
                <a:spcPts val="4427"/>
              </a:lnSpc>
            </a:pPr>
          </a:p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Controle automático de estoque</a:t>
            </a:r>
          </a:p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Relatórios como “empréstimos atrasados”</a:t>
            </a:r>
          </a:p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Interface simples para uso direto no navegador</a:t>
            </a:r>
          </a:p>
          <a:p>
            <a:pPr algn="l">
              <a:lnSpc>
                <a:spcPts val="4427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26116" y="3167912"/>
            <a:ext cx="5284042" cy="4815083"/>
          </a:xfrm>
          <a:custGeom>
            <a:avLst/>
            <a:gdLst/>
            <a:ahLst/>
            <a:cxnLst/>
            <a:rect r="r" b="b" t="t" l="l"/>
            <a:pathLst>
              <a:path h="4815083" w="5284042">
                <a:moveTo>
                  <a:pt x="0" y="0"/>
                </a:moveTo>
                <a:lnTo>
                  <a:pt x="5284043" y="0"/>
                </a:lnTo>
                <a:lnTo>
                  <a:pt x="5284043" y="4815083"/>
                </a:lnTo>
                <a:lnTo>
                  <a:pt x="0" y="4815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67710" y="5143500"/>
            <a:ext cx="2807662" cy="3775585"/>
          </a:xfrm>
          <a:custGeom>
            <a:avLst/>
            <a:gdLst/>
            <a:ahLst/>
            <a:cxnLst/>
            <a:rect r="r" b="b" t="t" l="l"/>
            <a:pathLst>
              <a:path h="3775585" w="2807662">
                <a:moveTo>
                  <a:pt x="0" y="0"/>
                </a:moveTo>
                <a:lnTo>
                  <a:pt x="2807663" y="0"/>
                </a:lnTo>
                <a:lnTo>
                  <a:pt x="2807663" y="3775585"/>
                </a:lnTo>
                <a:lnTo>
                  <a:pt x="0" y="377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45479" y="1636133"/>
            <a:ext cx="13326062" cy="11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3"/>
              </a:lnSpc>
            </a:pPr>
            <a:r>
              <a:rPr lang="en-US" sz="9298">
                <a:solidFill>
                  <a:srgbClr val="253943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Objetivos do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87214" y="4823002"/>
            <a:ext cx="15944206" cy="27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editoras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usuários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empréstimos</a:t>
            </a:r>
          </a:p>
          <a:p>
            <a:pPr algn="l" marL="682835" indent="-341418" lvl="1">
              <a:lnSpc>
                <a:spcPts val="4427"/>
              </a:lnSpc>
              <a:buFont typeface="Arial"/>
              <a:buChar char="•"/>
            </a:pPr>
            <a:r>
              <a:rPr lang="en-US" sz="31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reservas</a:t>
            </a:r>
          </a:p>
          <a:p>
            <a:pPr algn="l">
              <a:lnSpc>
                <a:spcPts val="442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33671" y="-879902"/>
            <a:ext cx="7315200" cy="3817204"/>
          </a:xfrm>
          <a:custGeom>
            <a:avLst/>
            <a:gdLst/>
            <a:ahLst/>
            <a:cxnLst/>
            <a:rect r="r" b="b" t="t" l="l"/>
            <a:pathLst>
              <a:path h="3817204" w="7315200">
                <a:moveTo>
                  <a:pt x="0" y="0"/>
                </a:moveTo>
                <a:lnTo>
                  <a:pt x="7315200" y="0"/>
                </a:lnTo>
                <a:lnTo>
                  <a:pt x="7315200" y="3817204"/>
                </a:lnTo>
                <a:lnTo>
                  <a:pt x="0" y="381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6390" y="415934"/>
            <a:ext cx="6234682" cy="3944853"/>
          </a:xfrm>
          <a:custGeom>
            <a:avLst/>
            <a:gdLst/>
            <a:ahLst/>
            <a:cxnLst/>
            <a:rect r="r" b="b" t="t" l="l"/>
            <a:pathLst>
              <a:path h="3944853" w="6234682">
                <a:moveTo>
                  <a:pt x="0" y="0"/>
                </a:moveTo>
                <a:lnTo>
                  <a:pt x="6234682" y="0"/>
                </a:lnTo>
                <a:lnTo>
                  <a:pt x="6234682" y="3944853"/>
                </a:lnTo>
                <a:lnTo>
                  <a:pt x="0" y="39448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49540" y="1274799"/>
            <a:ext cx="12168263" cy="166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1"/>
              </a:lnSpc>
            </a:pPr>
            <a:r>
              <a:rPr lang="en-US" sz="7401">
                <a:solidFill>
                  <a:srgbClr val="0F232D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PRINCIPAIS ESCOLHAS TÉCNICAS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7030953"/>
            <a:ext cx="5238292" cy="4133488"/>
          </a:xfrm>
          <a:custGeom>
            <a:avLst/>
            <a:gdLst/>
            <a:ahLst/>
            <a:cxnLst/>
            <a:rect r="r" b="b" t="t" l="l"/>
            <a:pathLst>
              <a:path h="4133488" w="5238292">
                <a:moveTo>
                  <a:pt x="0" y="0"/>
                </a:moveTo>
                <a:lnTo>
                  <a:pt x="5238292" y="0"/>
                </a:lnTo>
                <a:lnTo>
                  <a:pt x="5238292" y="4133488"/>
                </a:lnTo>
                <a:lnTo>
                  <a:pt x="0" y="41334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91271" y="5315398"/>
            <a:ext cx="5469886" cy="3431110"/>
          </a:xfrm>
          <a:custGeom>
            <a:avLst/>
            <a:gdLst/>
            <a:ahLst/>
            <a:cxnLst/>
            <a:rect r="r" b="b" t="t" l="l"/>
            <a:pathLst>
              <a:path h="3431110" w="5469886">
                <a:moveTo>
                  <a:pt x="0" y="0"/>
                </a:moveTo>
                <a:lnTo>
                  <a:pt x="5469886" y="0"/>
                </a:lnTo>
                <a:lnTo>
                  <a:pt x="5469886" y="3431110"/>
                </a:lnTo>
                <a:lnTo>
                  <a:pt x="0" y="3431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3387" y="2540549"/>
            <a:ext cx="14741227" cy="358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Por que escolhemos essas tecnologias?</a:t>
            </a:r>
          </a:p>
          <a:p>
            <a:pPr algn="l">
              <a:lnSpc>
                <a:spcPts val="4093"/>
              </a:lnSpc>
            </a:pP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Java +</a:t>
            </a: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Spring Boot</a:t>
            </a:r>
          </a:p>
          <a:p>
            <a:pPr algn="l" marL="631316" indent="-315658" lvl="1">
              <a:lnSpc>
                <a:spcPts val="4093"/>
              </a:lnSpc>
              <a:buFont typeface="Arial"/>
              <a:buChar char="•"/>
            </a:pP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rápido para criar API</a:t>
            </a:r>
          </a:p>
          <a:p>
            <a:pPr algn="l" marL="631316" indent="-315658" lvl="1">
              <a:lnSpc>
                <a:spcPts val="4093"/>
              </a:lnSpc>
              <a:buFont typeface="Arial"/>
              <a:buChar char="•"/>
            </a:pP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organiz</a:t>
            </a: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ação em camadas</a:t>
            </a:r>
          </a:p>
          <a:p>
            <a:pPr algn="l" marL="631316" indent="-315658" lvl="1">
              <a:lnSpc>
                <a:spcPts val="4093"/>
              </a:lnSpc>
              <a:buFont typeface="Arial"/>
              <a:buChar char="•"/>
            </a:pPr>
            <a:r>
              <a:rPr lang="en-US" sz="2924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trabalha muito bem com bancos relacionais</a:t>
            </a:r>
          </a:p>
          <a:p>
            <a:pPr algn="l">
              <a:lnSpc>
                <a:spcPts val="4093"/>
              </a:lnSpc>
            </a:pPr>
          </a:p>
          <a:p>
            <a:pPr algn="l">
              <a:lnSpc>
                <a:spcPts val="40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58285" y="5258248"/>
            <a:ext cx="15944206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MySQL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ideal pa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ra regras rígidas (estoque, empréstimos)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garante 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integridade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suporta triggers, p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ocedures, views e índices</a:t>
            </a:r>
          </a:p>
          <a:p>
            <a:pPr algn="l">
              <a:lnSpc>
                <a:spcPts val="400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842600" y="7463652"/>
            <a:ext cx="15944206" cy="250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MongoDB (NoSQL)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a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rmazena dados flexíveis (logs, histórico, reviews)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esc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ala fac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ilmente</a:t>
            </a:r>
          </a:p>
          <a:p>
            <a:pPr algn="l" marL="618066" indent="-309033" lvl="1">
              <a:lnSpc>
                <a:spcPts val="4007"/>
              </a:lnSpc>
              <a:buFont typeface="Arial"/>
              <a:buChar char="•"/>
            </a:pP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com</a:t>
            </a:r>
            <a:r>
              <a:rPr lang="en-US" sz="2862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plementa o MySQL</a:t>
            </a:r>
          </a:p>
          <a:p>
            <a:pPr algn="l">
              <a:lnSpc>
                <a:spcPts val="400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38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8808" y="7191556"/>
            <a:ext cx="5238292" cy="4133488"/>
          </a:xfrm>
          <a:custGeom>
            <a:avLst/>
            <a:gdLst/>
            <a:ahLst/>
            <a:cxnLst/>
            <a:rect r="r" b="b" t="t" l="l"/>
            <a:pathLst>
              <a:path h="4133488" w="5238292">
                <a:moveTo>
                  <a:pt x="0" y="0"/>
                </a:moveTo>
                <a:lnTo>
                  <a:pt x="5238292" y="0"/>
                </a:lnTo>
                <a:lnTo>
                  <a:pt x="5238292" y="4133488"/>
                </a:lnTo>
                <a:lnTo>
                  <a:pt x="0" y="41334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0338" y="1947801"/>
            <a:ext cx="7893706" cy="731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</a:pPr>
          </a:p>
          <a:p>
            <a:pPr algn="l">
              <a:lnSpc>
                <a:spcPts val="3414"/>
              </a:lnSpc>
            </a:pPr>
          </a:p>
          <a:p>
            <a:pPr algn="l">
              <a:lnSpc>
                <a:spcPts val="3414"/>
              </a:lnSpc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Entidades principais:</a:t>
            </a:r>
          </a:p>
          <a:p>
            <a:pPr algn="l">
              <a:lnSpc>
                <a:spcPts val="3414"/>
              </a:lnSpc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Usuário, Grupo, Livro, Autor, Categoria, Editora, Empréstimo, Reserva</a:t>
            </a:r>
          </a:p>
          <a:p>
            <a:pPr algn="l">
              <a:lnSpc>
                <a:spcPts val="3414"/>
              </a:lnSpc>
            </a:pP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Relacionamentos importantes:</a:t>
            </a: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Livro ↔ Autor (N:N)</a:t>
            </a: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Livro ↔ Categoria (N:N)</a:t>
            </a: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Livro → Editora (N:1)</a:t>
            </a: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Usuário → Empréstimo (1:N)</a:t>
            </a:r>
          </a:p>
          <a:p>
            <a:pPr algn="l" marL="526569" indent="-263285" lvl="1">
              <a:lnSpc>
                <a:spcPts val="3414"/>
              </a:lnSpc>
              <a:buFont typeface="Arial"/>
              <a:buChar char="•"/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Usuário → Reserva (1:N)</a:t>
            </a:r>
          </a:p>
          <a:p>
            <a:pPr algn="l">
              <a:lnSpc>
                <a:spcPts val="3414"/>
              </a:lnSpc>
            </a:pPr>
          </a:p>
          <a:p>
            <a:pPr algn="l">
              <a:lnSpc>
                <a:spcPts val="3414"/>
              </a:lnSpc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Banco relacional usado para dados estruturados e críticos</a:t>
            </a:r>
          </a:p>
          <a:p>
            <a:pPr algn="l">
              <a:lnSpc>
                <a:spcPts val="3414"/>
              </a:lnSpc>
            </a:pPr>
            <a:r>
              <a:rPr lang="en-US" sz="2438">
                <a:solidFill>
                  <a:srgbClr val="0F232D"/>
                </a:solidFill>
                <a:latin typeface="TT Norms"/>
                <a:ea typeface="TT Norms"/>
                <a:cs typeface="TT Norms"/>
                <a:sym typeface="TT Norms"/>
              </a:rPr>
              <a:t> NoSQL pensado para dados dinâmicos e não estruturados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246818" y="-943727"/>
            <a:ext cx="6234682" cy="3944853"/>
          </a:xfrm>
          <a:custGeom>
            <a:avLst/>
            <a:gdLst/>
            <a:ahLst/>
            <a:cxnLst/>
            <a:rect r="r" b="b" t="t" l="l"/>
            <a:pathLst>
              <a:path h="3944853" w="6234682">
                <a:moveTo>
                  <a:pt x="0" y="0"/>
                </a:moveTo>
                <a:lnTo>
                  <a:pt x="6234682" y="0"/>
                </a:lnTo>
                <a:lnTo>
                  <a:pt x="6234682" y="3944854"/>
                </a:lnTo>
                <a:lnTo>
                  <a:pt x="0" y="394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64709" y="3400851"/>
            <a:ext cx="6578602" cy="5085351"/>
          </a:xfrm>
          <a:custGeom>
            <a:avLst/>
            <a:gdLst/>
            <a:ahLst/>
            <a:cxnLst/>
            <a:rect r="r" b="b" t="t" l="l"/>
            <a:pathLst>
              <a:path h="5085351" w="6578602">
                <a:moveTo>
                  <a:pt x="0" y="0"/>
                </a:moveTo>
                <a:lnTo>
                  <a:pt x="6578603" y="0"/>
                </a:lnTo>
                <a:lnTo>
                  <a:pt x="6578603" y="5085350"/>
                </a:lnTo>
                <a:lnTo>
                  <a:pt x="0" y="5085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00588" y="907281"/>
            <a:ext cx="9642724" cy="174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76"/>
              </a:lnSpc>
            </a:pPr>
            <a:r>
              <a:rPr lang="en-US" sz="7736">
                <a:solidFill>
                  <a:srgbClr val="0F232D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ARQUITETURA E MODELAGEM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5695" y="1067289"/>
            <a:ext cx="13196610" cy="93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1"/>
              </a:lnSpc>
            </a:pPr>
            <a:r>
              <a:rPr lang="en-US" sz="7895">
                <a:solidFill>
                  <a:srgbClr val="253943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RECURSOS AVANÇADOS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482203" y="4199537"/>
            <a:ext cx="9177388" cy="7169835"/>
          </a:xfrm>
          <a:custGeom>
            <a:avLst/>
            <a:gdLst/>
            <a:ahLst/>
            <a:cxnLst/>
            <a:rect r="r" b="b" t="t" l="l"/>
            <a:pathLst>
              <a:path h="7169835" w="9177388">
                <a:moveTo>
                  <a:pt x="0" y="0"/>
                </a:moveTo>
                <a:lnTo>
                  <a:pt x="9177388" y="0"/>
                </a:lnTo>
                <a:lnTo>
                  <a:pt x="9177388" y="7169835"/>
                </a:lnTo>
                <a:lnTo>
                  <a:pt x="0" y="71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19099"/>
            <a:ext cx="15767573" cy="74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Triggers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reduz estoque automaticamente ao emprestar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impede excluir autor vinculado a livro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Procedures Functions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geram IDs automáticos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controlam devolução com segurança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Views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ca</a:t>
            </a: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tálogo de livros disponíveis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relatório de empréstimos atrasados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Índices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53943"/>
                </a:solidFill>
                <a:latin typeface="TT Norms"/>
                <a:ea typeface="TT Norms"/>
                <a:cs typeface="TT Norms"/>
                <a:sym typeface="TT Norms"/>
              </a:rPr>
              <a:t>aceleram buscas por título e por usuário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1325" y="-812075"/>
            <a:ext cx="6570435" cy="3428572"/>
          </a:xfrm>
          <a:custGeom>
            <a:avLst/>
            <a:gdLst/>
            <a:ahLst/>
            <a:cxnLst/>
            <a:rect r="r" b="b" t="t" l="l"/>
            <a:pathLst>
              <a:path h="3428572" w="6570435">
                <a:moveTo>
                  <a:pt x="0" y="0"/>
                </a:moveTo>
                <a:lnTo>
                  <a:pt x="6570435" y="0"/>
                </a:lnTo>
                <a:lnTo>
                  <a:pt x="6570435" y="3428572"/>
                </a:lnTo>
                <a:lnTo>
                  <a:pt x="0" y="342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71262" y="1028700"/>
            <a:ext cx="5599925" cy="3543225"/>
          </a:xfrm>
          <a:custGeom>
            <a:avLst/>
            <a:gdLst/>
            <a:ahLst/>
            <a:cxnLst/>
            <a:rect r="r" b="b" t="t" l="l"/>
            <a:pathLst>
              <a:path h="3543225" w="5599925">
                <a:moveTo>
                  <a:pt x="0" y="0"/>
                </a:moveTo>
                <a:lnTo>
                  <a:pt x="5599924" y="0"/>
                </a:lnTo>
                <a:lnTo>
                  <a:pt x="5599924" y="3543225"/>
                </a:lnTo>
                <a:lnTo>
                  <a:pt x="0" y="3543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5768" y="7645784"/>
            <a:ext cx="4704978" cy="3712655"/>
          </a:xfrm>
          <a:custGeom>
            <a:avLst/>
            <a:gdLst/>
            <a:ahLst/>
            <a:cxnLst/>
            <a:rect r="r" b="b" t="t" l="l"/>
            <a:pathLst>
              <a:path h="3712655" w="4704978">
                <a:moveTo>
                  <a:pt x="0" y="0"/>
                </a:moveTo>
                <a:lnTo>
                  <a:pt x="4704978" y="0"/>
                </a:lnTo>
                <a:lnTo>
                  <a:pt x="4704978" y="3712655"/>
                </a:lnTo>
                <a:lnTo>
                  <a:pt x="0" y="3712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40035" y="5141803"/>
            <a:ext cx="4912993" cy="3081787"/>
          </a:xfrm>
          <a:custGeom>
            <a:avLst/>
            <a:gdLst/>
            <a:ahLst/>
            <a:cxnLst/>
            <a:rect r="r" b="b" t="t" l="l"/>
            <a:pathLst>
              <a:path h="3081787" w="4912993">
                <a:moveTo>
                  <a:pt x="0" y="0"/>
                </a:moveTo>
                <a:lnTo>
                  <a:pt x="4912993" y="0"/>
                </a:lnTo>
                <a:lnTo>
                  <a:pt x="4912993" y="3081787"/>
                </a:lnTo>
                <a:lnTo>
                  <a:pt x="0" y="3081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3517781" y="2616497"/>
            <a:ext cx="11252439" cy="6342766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57677" y="900074"/>
            <a:ext cx="15024083" cy="171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6"/>
              </a:lnSpc>
            </a:pPr>
            <a:r>
              <a:rPr lang="en-US" sz="7595">
                <a:solidFill>
                  <a:srgbClr val="FFF5D6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DEMONSTRAÇÃO DO SISTEMA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05658" y="6166067"/>
            <a:ext cx="18968198" cy="8725371"/>
          </a:xfrm>
          <a:custGeom>
            <a:avLst/>
            <a:gdLst/>
            <a:ahLst/>
            <a:cxnLst/>
            <a:rect r="r" b="b" t="t" l="l"/>
            <a:pathLst>
              <a:path h="8725371" w="18968198">
                <a:moveTo>
                  <a:pt x="0" y="0"/>
                </a:moveTo>
                <a:lnTo>
                  <a:pt x="18968197" y="0"/>
                </a:lnTo>
                <a:lnTo>
                  <a:pt x="18968197" y="8725371"/>
                </a:lnTo>
                <a:lnTo>
                  <a:pt x="0" y="8725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202" y="1529290"/>
            <a:ext cx="3291882" cy="6375123"/>
          </a:xfrm>
          <a:custGeom>
            <a:avLst/>
            <a:gdLst/>
            <a:ahLst/>
            <a:cxnLst/>
            <a:rect r="r" b="b" t="t" l="l"/>
            <a:pathLst>
              <a:path h="6375123" w="3291882">
                <a:moveTo>
                  <a:pt x="0" y="0"/>
                </a:moveTo>
                <a:lnTo>
                  <a:pt x="3291882" y="0"/>
                </a:lnTo>
                <a:lnTo>
                  <a:pt x="3291882" y="6375123"/>
                </a:lnTo>
                <a:lnTo>
                  <a:pt x="0" y="6375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4511" y="4800945"/>
            <a:ext cx="2322927" cy="3123741"/>
          </a:xfrm>
          <a:custGeom>
            <a:avLst/>
            <a:gdLst/>
            <a:ahLst/>
            <a:cxnLst/>
            <a:rect r="r" b="b" t="t" l="l"/>
            <a:pathLst>
              <a:path h="3123741" w="2322927">
                <a:moveTo>
                  <a:pt x="0" y="0"/>
                </a:moveTo>
                <a:lnTo>
                  <a:pt x="2322927" y="0"/>
                </a:lnTo>
                <a:lnTo>
                  <a:pt x="2322927" y="3123741"/>
                </a:lnTo>
                <a:lnTo>
                  <a:pt x="0" y="31237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39162" y="962115"/>
            <a:ext cx="8872057" cy="190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9"/>
              </a:lnSpc>
            </a:pPr>
            <a:r>
              <a:rPr lang="en-US" sz="8446">
                <a:solidFill>
                  <a:srgbClr val="FFF5D6"/>
                </a:solidFill>
                <a:latin typeface="TT Phobos Inline"/>
                <a:ea typeface="TT Phobos Inline"/>
                <a:cs typeface="TT Phobos Inline"/>
                <a:sym typeface="TT Phobos Inline"/>
              </a:rPr>
              <a:t>BENEFICIOS E 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889" y="3181632"/>
            <a:ext cx="17259300" cy="6078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363"/>
              </a:lnSpc>
            </a:pP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S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istema seguro</a:t>
            </a: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Banco com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regras automáticas</a:t>
            </a: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Arquitetura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es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cal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ável</a:t>
            </a: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 Possibilidade de expansão com NoSQL</a:t>
            </a: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 Uso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 r</a:t>
            </a: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eal em bibliotecas pequenas/médias</a:t>
            </a:r>
          </a:p>
          <a:p>
            <a:pPr algn="r">
              <a:lnSpc>
                <a:spcPts val="5363"/>
              </a:lnSpc>
            </a:pPr>
          </a:p>
          <a:p>
            <a:pPr algn="r">
              <a:lnSpc>
                <a:spcPts val="5363"/>
              </a:lnSpc>
            </a:pPr>
            <a:r>
              <a:rPr lang="en-US" sz="3831">
                <a:solidFill>
                  <a:srgbClr val="FFF5D6"/>
                </a:solidFill>
                <a:latin typeface="TT Norms"/>
                <a:ea typeface="TT Norms"/>
                <a:cs typeface="TT Norms"/>
                <a:sym typeface="TT Norms"/>
              </a:rPr>
              <a:t>Obrigada!</a:t>
            </a:r>
          </a:p>
          <a:p>
            <a:pPr algn="r">
              <a:lnSpc>
                <a:spcPts val="536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DAG4_huT4Yg</dc:identifier>
  <dcterms:modified xsi:type="dcterms:W3CDTF">2011-08-01T06:04:30Z</dcterms:modified>
  <cp:revision>1</cp:revision>
  <dc:title>Sistema de Biblioteca</dc:title>
</cp:coreProperties>
</file>